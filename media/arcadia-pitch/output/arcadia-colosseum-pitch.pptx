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636cd88543495c" /><Relationship Type="http://schemas.openxmlformats.org/officeDocument/2006/relationships/extended-properties" Target="/docProps/app.xml" Id="R8f4f756a3f264aaf" /><Relationship Type="http://schemas.openxmlformats.org/officeDocument/2006/relationships/officeDocument" Target="/ppt/presentation.xml" Id="R144b651b36844d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7786cdf96d4a44"/>
  </p:sldMasterIdLst>
  <p:notesMasterIdLst>
    <p:notesMasterId xmlns:r="http://schemas.openxmlformats.org/officeDocument/2006/relationships" r:id="R96dd1d11ef84442f"/>
  </p:notesMasterIdLst>
  <p:sldIdLst>
    <p:sldId xmlns:r="http://schemas.openxmlformats.org/officeDocument/2006/relationships" id="256" r:id="R270ee9b0086c4255"/>
    <p:sldId xmlns:r="http://schemas.openxmlformats.org/officeDocument/2006/relationships" id="257" r:id="R34c19d7a324948dc"/>
    <p:sldId xmlns:r="http://schemas.openxmlformats.org/officeDocument/2006/relationships" id="258" r:id="Rdf51d81af540405b"/>
    <p:sldId xmlns:r="http://schemas.openxmlformats.org/officeDocument/2006/relationships" id="259" r:id="R48b092e2590148e3"/>
    <p:sldId xmlns:r="http://schemas.openxmlformats.org/officeDocument/2006/relationships" id="260" r:id="Ra05ab3f9cf72406d"/>
    <p:sldId xmlns:r="http://schemas.openxmlformats.org/officeDocument/2006/relationships" id="261" r:id="R0c444078880f4446"/>
    <p:sldId xmlns:r="http://schemas.openxmlformats.org/officeDocument/2006/relationships" id="262" r:id="R3469854176a0426c"/>
    <p:sldId xmlns:r="http://schemas.openxmlformats.org/officeDocument/2006/relationships" id="263" r:id="R5a95086896d84a0a"/>
    <p:sldId xmlns:r="http://schemas.openxmlformats.org/officeDocument/2006/relationships" id="264" r:id="R48c156d6f5d843c5"/>
    <p:sldId xmlns:r="http://schemas.openxmlformats.org/officeDocument/2006/relationships" id="265" r:id="R2f4c7c914f5245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786cdf96d4a44" /><Relationship Type="http://schemas.openxmlformats.org/officeDocument/2006/relationships/theme" Target="/ppt/theme/theme1.xml" Id="Rf06be669c0ae435f" /><Relationship Type="http://schemas.openxmlformats.org/officeDocument/2006/relationships/notesMaster" Target="/ppt/notesMasters/notesMaster1.xml" Id="R96dd1d11ef84442f" /><Relationship Type="http://schemas.openxmlformats.org/officeDocument/2006/relationships/presProps" Target="/ppt/presProps.xml" Id="R5538ecb0476b40c2" /><Relationship Type="http://schemas.openxmlformats.org/officeDocument/2006/relationships/viewProps" Target="/ppt/viewProps.xml" Id="R82774f6a31cc4f51" /><Relationship Type="http://schemas.openxmlformats.org/officeDocument/2006/relationships/tableStyles" Target="/ppt/tableStyles.xml" Id="Re111c3bedb09456d" /><Relationship Type="http://schemas.openxmlformats.org/officeDocument/2006/relationships/slide" Target="/ppt/slides/slide1.xml" Id="R270ee9b0086c4255" /><Relationship Type="http://schemas.openxmlformats.org/officeDocument/2006/relationships/slide" Target="/ppt/slides/slide2.xml" Id="R34c19d7a324948dc" /><Relationship Type="http://schemas.openxmlformats.org/officeDocument/2006/relationships/slide" Target="/ppt/slides/slide3.xml" Id="Rdf51d81af540405b" /><Relationship Type="http://schemas.openxmlformats.org/officeDocument/2006/relationships/slide" Target="/ppt/slides/slide4.xml" Id="R48b092e2590148e3" /><Relationship Type="http://schemas.openxmlformats.org/officeDocument/2006/relationships/slide" Target="/ppt/slides/slide5.xml" Id="Ra05ab3f9cf72406d" /><Relationship Type="http://schemas.openxmlformats.org/officeDocument/2006/relationships/slide" Target="/ppt/slides/slide6.xml" Id="R0c444078880f4446" /><Relationship Type="http://schemas.openxmlformats.org/officeDocument/2006/relationships/slide" Target="/ppt/slides/slide7.xml" Id="R3469854176a0426c" /><Relationship Type="http://schemas.openxmlformats.org/officeDocument/2006/relationships/slide" Target="/ppt/slides/slide8.xml" Id="R5a95086896d84a0a" /><Relationship Type="http://schemas.openxmlformats.org/officeDocument/2006/relationships/slide" Target="/ppt/slides/slide9.xml" Id="R48c156d6f5d843c5" /><Relationship Type="http://schemas.openxmlformats.org/officeDocument/2006/relationships/slide" Target="/ppt/slides/slide10.xml" Id="R2f4c7c914f5245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4b55037933e45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f95780189418c" /><Relationship Type="http://schemas.openxmlformats.org/officeDocument/2006/relationships/notesMaster" Target="/ppt/notesMasters/notesMaster1.xml" Id="Rd0a8150b8b6b4b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41015d14044102" /><Relationship Type="http://schemas.openxmlformats.org/officeDocument/2006/relationships/notesMaster" Target="/ppt/notesMasters/notesMaster1.xml" Id="Rca5501f12f2847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1cd1dcce624e99" /><Relationship Type="http://schemas.openxmlformats.org/officeDocument/2006/relationships/notesMaster" Target="/ppt/notesMasters/notesMaster1.xml" Id="R6b10159b5a174c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65d57276854c36" /><Relationship Type="http://schemas.openxmlformats.org/officeDocument/2006/relationships/notesMaster" Target="/ppt/notesMasters/notesMaster1.xml" Id="R53be22d64c3244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1d0e87f27e4185" /><Relationship Type="http://schemas.openxmlformats.org/officeDocument/2006/relationships/notesMaster" Target="/ppt/notesMasters/notesMaster1.xml" Id="R19988883bc7e4b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ed598d9f44693" /><Relationship Type="http://schemas.openxmlformats.org/officeDocument/2006/relationships/notesMaster" Target="/ppt/notesMasters/notesMaster1.xml" Id="R49e07f99910d41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38c8ded5704aab" /><Relationship Type="http://schemas.openxmlformats.org/officeDocument/2006/relationships/notesMaster" Target="/ppt/notesMasters/notesMaster1.xml" Id="R9c78b53bf3974f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ccab573b32433b" /><Relationship Type="http://schemas.openxmlformats.org/officeDocument/2006/relationships/notesMaster" Target="/ppt/notesMasters/notesMaster1.xml" Id="Rf919233a6e004d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057dfd62c54208" /><Relationship Type="http://schemas.openxmlformats.org/officeDocument/2006/relationships/notesMaster" Target="/ppt/notesMasters/notesMaster1.xml" Id="R33d1f315d49948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944e442cbe4207" /><Relationship Type="http://schemas.openxmlformats.org/officeDocument/2006/relationships/notesMaster" Target="/ppt/notesMasters/notesMaster1.xml" Id="Rdf1a06ebe57340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fcffab4554ea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7a5d808cd8c4a23" /><Relationship Type="http://schemas.openxmlformats.org/officeDocument/2006/relationships/slideLayout" Target="/ppt/slideLayouts/slideLayout2.xml" Id="R2a70811402a749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70811402a749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cf9ec111f4f44" /><Relationship Type="http://schemas.openxmlformats.org/officeDocument/2006/relationships/image" Target="/ppt/media/image.bin" Id="R08832ebbccba419f" /><Relationship Type="http://schemas.openxmlformats.org/officeDocument/2006/relationships/image" Target="/ppt/media/image.png" Id="Rd083d33b1c3b405d" /><Relationship Type="http://schemas.openxmlformats.org/officeDocument/2006/relationships/notesSlide" Target="/ppt/notesSlides/notesSlide1.xml" Id="Rf2a61adf1c5b41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5ce9bc3af6474a" /><Relationship Type="http://schemas.openxmlformats.org/officeDocument/2006/relationships/image" Target="/ppt/media/image2.bin" Id="R3aeba0fa9bc04f7a" /><Relationship Type="http://schemas.openxmlformats.org/officeDocument/2006/relationships/notesSlide" Target="/ppt/notesSlides/notesSlide2.xml" Id="R080fdeceb5bc48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68bd399c56478f" /><Relationship Type="http://schemas.openxmlformats.org/officeDocument/2006/relationships/image" Target="/ppt/media/image3.bin" Id="Rd37518811725409d" /><Relationship Type="http://schemas.openxmlformats.org/officeDocument/2006/relationships/notesSlide" Target="/ppt/notesSlides/notesSlide3.xml" Id="Re852931e75cd48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38e224767a4e4c" /><Relationship Type="http://schemas.openxmlformats.org/officeDocument/2006/relationships/image" Target="/ppt/media/image4.bin" Id="Rd289d2445c05461f" /><Relationship Type="http://schemas.openxmlformats.org/officeDocument/2006/relationships/notesSlide" Target="/ppt/notesSlides/notesSlide4.xml" Id="R789a20d02b284e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0743b9a364929" /><Relationship Type="http://schemas.openxmlformats.org/officeDocument/2006/relationships/image" Target="/ppt/media/image5.bin" Id="R7415820501004aef" /><Relationship Type="http://schemas.openxmlformats.org/officeDocument/2006/relationships/notesSlide" Target="/ppt/notesSlides/notesSlide5.xml" Id="Rdf7c37a28f4d45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6d738236664372" /><Relationship Type="http://schemas.openxmlformats.org/officeDocument/2006/relationships/image" Target="/ppt/media/image6.bin" Id="R42914a05da8c4176" /><Relationship Type="http://schemas.openxmlformats.org/officeDocument/2006/relationships/notesSlide" Target="/ppt/notesSlides/notesSlide6.xml" Id="R3fcd2ee606284c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db0a338a1f48c1" /><Relationship Type="http://schemas.openxmlformats.org/officeDocument/2006/relationships/image" Target="/ppt/media/image7.bin" Id="Rf8679d70810d4320" /><Relationship Type="http://schemas.openxmlformats.org/officeDocument/2006/relationships/notesSlide" Target="/ppt/notesSlides/notesSlide7.xml" Id="R35262f77f2f042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7d3c7839244721" /><Relationship Type="http://schemas.openxmlformats.org/officeDocument/2006/relationships/image" Target="/ppt/media/image8.bin" Id="R105c834ded2941ba" /><Relationship Type="http://schemas.openxmlformats.org/officeDocument/2006/relationships/notesSlide" Target="/ppt/notesSlides/notesSlide8.xml" Id="R0c739c9ac43e4d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0f36a9219e4e9c" /><Relationship Type="http://schemas.openxmlformats.org/officeDocument/2006/relationships/image" Target="/ppt/media/image9.bin" Id="Red6a4ec3c3a6441a" /><Relationship Type="http://schemas.openxmlformats.org/officeDocument/2006/relationships/notesSlide" Target="/ppt/notesSlides/notesSlide9.xml" Id="Rea1c2467519b41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d3a78e4ced4fbd" /><Relationship Type="http://schemas.openxmlformats.org/officeDocument/2006/relationships/image" Target="/ppt/media/image10.bin" Id="R1a169debbde64ecb" /><Relationship Type="http://schemas.openxmlformats.org/officeDocument/2006/relationships/notesSlide" Target="/ppt/notesSlides/notesSlide10.xml" Id="R359cede5a08140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CC01D1-13AE-40C2-B551-4D632B0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EEA28-C7CA-4526-BE99-B1C24F8E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6F63B-6220-409B-A3D0-58EA9850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49912-3C4F-454E-B07D-A6FF212C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CECAD-8F16-41A4-B452-6402B2E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3EDCF-18E6-460E-BBD8-2C4473C5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4A766-1C22-4F9B-A0AF-477BC22B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592FF-BA3F-4019-B0E4-818BCA9D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DB205-2824-4E24-A0A0-33007C72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10418-2810-4CB0-98C4-D411EF2D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9E865-D623-42F5-936E-463E59D2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85D7C-9F99-43B2-90A3-1E54D080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B7110-EB59-454B-8479-576D437D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7D08A-F5E2-4ED5-8D2B-6A1EA3BF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D5646-F5F0-452C-ABE7-2E75964D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8D0FC-D821-46EB-A58B-6E35D12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37836-E182-4769-B996-277D6CB2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7E42A-BEA7-4879-98E7-9FEE8C02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FF4CD-05B4-473B-9757-3E7C49ED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77EC0-D3D5-48B9-AED1-894EAAAC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D3B51B-38C7-4381-A0CC-237FAC3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27E8C-8749-4737-B983-62175F04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BE08B-D0FA-4D0F-AA46-DF105AB8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1EA25-9056-452C-BCEC-449C9E9B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886C91-7EFC-4D6A-8AC4-1F488CA2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F06D50-F292-43F4-B838-8B00C141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0FB211-3337-4990-A29A-E5341595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78D7B4-34A7-4430-B26A-1B14B68F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0EC39E-40D7-4FFD-9E9B-D3D144D9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224C16-8967-436D-BC96-257FA6A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4B924-1791-48CE-931C-0C2BEBDB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32ebbccba419f"/>
          <a:stretch xmlns:a="http://schemas.openxmlformats.org/drawingml/2006/main"/>
        </p:blipFill>
        <p:spPr>
          <a:xfrm xmlns:a="http://schemas.openxmlformats.org/drawingml/2006/main">
            <a:off x="590550" y="51435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9E63AE-1523-49B7-AE0D-761579A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ARCADIA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E597C0-AAAD-484E-BD9C-75940C0A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915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COLOSSEUM / SOLANA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F9B454-D5EB-4167-B34E-E34A94F2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590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Capital</a:t>
            </a:r>
          </a:p>
          <a:p xmlns:a="http://schemas.openxmlformats.org/drawingml/2006/main">
            <a:pPr algn="l">
              <a:defRPr sz="4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follows proof.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5C1FE3-AFD9-4AF7-BE68-BDA25FD8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A Solana vault marketplace where traders earn</a:t>
            </a:r>
          </a:p>
          <a:p xmlns:a="http://schemas.openxmlformats.org/drawingml/2006/main">
            <a:pPr algn="l">
              <a:defRPr sz="165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allocation only after proving performance with</a:t>
            </a:r>
          </a:p>
          <a:p xmlns:a="http://schemas.openxmlformats.org/drawingml/2006/main">
            <a:pPr algn="l">
              <a:defRPr sz="165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their own first-loss capital.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04DC9A-0975-4D2E-A885-4FCF8A9A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295400"/>
            <a:ext cx="44577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D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C8C613-7DC6-4D67-8001-305721E4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295400"/>
            <a:ext cx="445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F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A82875-6B46-4F7D-BBFC-325E5094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28DA22-0BE0-4D78-8B1B-58FED104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A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12BCBB-BF01-44C8-A205-47C38F36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90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3d33b1c3b40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619250"/>
            <a:ext cx="4267200" cy="24003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FC9F92-9A4A-49E2-B7A1-36D470CD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0"/>
          </a:solidFill>
          <a:ln xmlns:a="http://schemas.openxmlformats.org/drawingml/2006/main" w="9525">
            <a:solidFill>
              <a:srgbClr val="1D4B4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CBFCED-391B-424F-B583-D9DEC4CD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863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FF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FFB2"/>
                </a:solidFill>
                <a:latin typeface="Aptos"/>
                <a:ea typeface="Aptos"/>
                <a:cs typeface="Aptos"/>
              </a:rPr>
              <a:t>Proof-gated vaults on Solana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F2EE71-2D2C-4870-8D6C-70C31824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72050"/>
            <a:ext cx="293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Paper mode · first loss · public records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800E20-6FC0-4519-BA10-ED35456B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7E7ECB-F801-4FCC-82FE-AF8E1C8B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B07448-49DC-4F4C-BB75-00CDF9B2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540666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CC109A-FEDE-4FE3-9E53-78FB3592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04FBA-13F6-49A7-8E1E-BCD29AD4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6D0D0-0D15-4746-8F78-CED65389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D99E2-FC5F-4E84-A63D-069F0C2E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CD1B4-AE8A-47A6-BA62-F8F3915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39749-07E1-4DB3-A7E6-FA7DDC66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A82E0-7755-429A-9183-47DBCAA1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FEC2A-9E04-436D-A6CF-5066455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65916-7441-4A10-AD1F-88ED3E38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B93BA-52A4-4729-8F72-43EECB3E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02DEC-6A99-4B19-A304-F7FD7786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BE653-018A-4F87-82A7-2DC5AE38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38DEB-B903-4ED1-8C4B-B73B3491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BF47B-2D82-4B7E-8A40-3B3364C0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7819E-B431-4DBD-A78C-A1934869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200F0D-FD9B-4C93-8603-68D84644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4419E-677D-435C-BCF7-82FA3280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34789-3E0A-4153-A36D-A9D1A4F3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BD7B7-462B-4B36-A2E2-DB1E1109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FE3D6E-0806-4643-97FE-79E424C8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E8A24-F58A-4EDD-99F9-E2130025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B01904-D4D9-49DA-B2DE-8C5B62B9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58E7F-9CB2-4156-AC80-EBACE24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F38862-8417-40D7-B3F6-9431D33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77D15-2B19-4F23-8DA9-75D36956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757CA-B73C-4ED5-A919-E2B3853A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6D5F31-0BC7-4F6B-BD62-5F61D876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9A8228-BE8F-4B67-81CF-A3859FA3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8A5FE-13D2-4D60-B753-5FB8A428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D1995C-8A12-41CC-8CBD-E9721167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B74B37-0EC7-4E97-B543-0FAD6D12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ba0fa9bc04f7a"/>
          <a:stretch xmlns:a="http://schemas.openxmlformats.org/drawingml/2006/main"/>
        </p:blipFill>
        <p:spPr>
          <a:xfrm xmlns:a="http://schemas.openxmlformats.org/drawingml/2006/main">
            <a:off x="590550" y="4572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9DD3D0-78F9-4565-A088-82A2EB6A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 / PROBLEM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F5AEE-388F-434E-A99A-2B8FA009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Managed DeFi vaults still run</a:t>
            </a:r>
          </a:p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on trust.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145F96-56D1-4A9E-AD28-D73EE959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Investors are asked to fund managers before seeing enough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proof, while managers keep upside without enough downside.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CD4716-63CB-4EE6-9C9C-57EC132E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D43F1E-4D91-4525-9420-34EF3A80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No required skin in the game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DEC990-5E42-4CC5-BCB0-A14C9C4C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5D9652-7561-4A68-990A-1F6AADDD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EF0071-A788-4EF4-93CD-3BB32817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No enforced track record before deposits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DF1C82-8788-45E3-A59B-F1F158D6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1B4D3F-9E70-47AC-8411-0F62D622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1146B1-AB78-42F9-961D-1225A74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Manual unwinds create trust assumptions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65174A-B27A-41AC-8229-7A28AFD8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1413BA-897D-48D1-A3B7-679B5D71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4210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057D9A-1004-490E-92BC-0D98D450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09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PROOF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D0353D-F187-4F87-BE6C-480A8146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650"/>
            <a:ext cx="337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Arcadia turns those social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assumptions into protocol checks.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31551A-55EF-4F54-9672-A3D7BF7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620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B3C9D2-B06A-4E5B-9078-691EF708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43325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NO SKIN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1A649F-E66A-4A2B-A682-2E7B08AE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195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620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2732EF-A217-4E11-8297-E3603E5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43325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NO PROOF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6E8241-810E-47E7-9D40-11ABAB9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19500"/>
            <a:ext cx="990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620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897CA5-D0C5-464F-9D24-1E2BD3FD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43325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F4D6D"/>
                </a:solidFill>
                <a:latin typeface="Aptos Mono"/>
                <a:ea typeface="Aptos Mono"/>
                <a:cs typeface="Aptos Mono"/>
              </a:rPr>
              <a:t>NO EXIT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ECCDDB-0A07-4E34-8D8C-86A29014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DDB55E-7996-4373-84E8-0EECE984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9C25F7-5AC7-4444-8E97-0F42EC8B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455628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5BF89B-F2A6-4C71-B65E-0F27805F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AB67B-0833-433D-AB6F-AD3A9C56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4C1EE-CD9E-48B0-926C-D9785A30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DA4C3-AFDE-4D13-ACAD-80B13108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BF621-C4FF-43EB-9C4B-B020266C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77B48-877B-4ED0-A9F8-DB05986F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4D335-598D-4950-A26B-CBE2DEFD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76009-D9DA-4334-905C-5633895D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F9860-7C40-4AE9-87B7-D483537F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7BE6F-3DFD-4C31-8B82-359B9DF5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F72412-7E0D-4138-A0BD-0D435C8E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029D3-056A-4CCE-9B52-2648844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4AA7E-4E64-46C3-87CA-4FAFCF3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092E0-0147-4732-9233-BD8353B9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C6A82-7E65-49F2-94BE-5FC94617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8F23E-A805-4083-9A44-835AD5DD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D2A18B-93EF-43B0-BBC0-A0CB5C10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BF01B-34EB-42E4-861C-3714A7A4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F42985-E510-4B01-A4EE-D5B5AB18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78B0ED-03E8-40E3-8B3F-50EDBE8F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37E47-2F92-4581-A883-D340B231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B141A-6F02-4CF8-BA11-2CAAF07B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1C657-5856-4822-B05B-601DC03F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7735E8-67E2-4AFB-9E73-FC46612B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CCAD6-C1EC-4BE0-8962-E6E25251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1B9701-60BA-4006-8035-8FB3CE0A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6030-6C03-4CB6-B832-8BD7755E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9BB5B-6C48-472F-8BFE-4330ACB7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1A0419-E9F5-4B91-9904-A50127D8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3DD0DC-446C-4A6F-A588-27FF048C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F3A07C-0BE4-4911-8DFA-60CF40C7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518811725409d"/>
          <a:stretch xmlns:a="http://schemas.openxmlformats.org/drawingml/2006/main"/>
        </p:blipFill>
        <p:spPr>
          <a:xfrm xmlns:a="http://schemas.openxmlformats.org/drawingml/2006/main">
            <a:off x="590550" y="4572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18B9B8-7000-4F00-BAE6-C074A03B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 / WHY NOW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F3F45A-B534-4AFA-8E42-F52FDE27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Solana rails make proof-gated</a:t>
            </a:r>
          </a:p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vaults practical.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A408C3-98D0-4350-BE1F-E18D5164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Fast settlement, public program state, Pyth prices, and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Jupiter routing let Arcadia enforce risk controls in the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product loop.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536C2-2970-4336-AA38-E908F937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B02486-7A1D-416D-927F-82DDABB1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Public records replace unverifiable claims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72E4A0-14BF-411F-9015-94A184EB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CA1EF5-7F91-46DA-8CDE-AA5E0207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5137DC-EDDA-4772-8851-6DE76F09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Fresh NAV makes withdrawals measurable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9A6E83-F9DD-49A5-9264-017EA989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1105CB-EC5C-4AEA-9679-C3B75254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8D4C53-3044-4A88-9590-58CA2403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Routing support can unwind exposure when liquidity is short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34F9F3-25BE-4CA4-8262-B98A65BD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0B501B-ABF4-4F16-8FA6-4C981C6C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4210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88C061-1F08-4619-861A-C54C6833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09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PROOF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5C37DD-348B-49FC-8CDF-A0EE06F2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650"/>
            <a:ext cx="337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No off-chain spreadsheet needs to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decide whether an investor can exit.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1FCB593-421F-478C-A648-93CCE083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100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BCCB55-AC72-4871-B10D-1DD18505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BE6D05-FB7B-4CC2-BD6E-D6C1541C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43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7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CC9EF2-4AB9-4159-A60D-6230B5CC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BUFFER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EDF672-100D-48ED-A772-0E053D0A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438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CE168E-D0CB-411A-A4F5-D4517C41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LIMIT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068559D-3EC1-4F6D-BD4C-FD764D4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438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19C672-76D7-42C8-A060-ED7AAC21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EXIT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A8236D-DC3D-42F1-9730-AD26DC20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BCEB8D-A077-4B0D-81F1-A26F37F4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ED62BC-F135-42D7-A792-38975544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41790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6EE22E-77B0-4B93-BA54-FB891489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C7EEF-FC92-4874-A359-FFD6B060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EFEAF-734B-47B4-B96F-24A68299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11F7A-3CB1-41EF-AA14-D87E3A6E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E33D6-F9EF-40EB-A17E-D9D65051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C1C59-5187-4C72-8DD8-2C151F26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509E0-3409-4F6E-BC07-10DFE97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4AF35-4350-4578-ADD3-E27E30EB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8C6CF-B55D-4967-A6FE-AF8A5F2B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97F3C-F832-45F3-BFB7-FA972E04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7F4C3-9B4F-4DDC-8D20-EBF88EC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22E4-CDCE-45B1-BAC9-6A0FF413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D8523-F1B6-48E5-98AB-54C2BBB6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EE3504-9D54-4169-A429-2BAE9BFB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5AEFE-16CE-4F83-AFB1-1D6EDE29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115A07-72E8-4742-9B30-C94EEB58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F1C0A-A213-4D36-92E2-0FB26B34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47C66-9DDE-43C5-B545-3D358B74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C081B-B85B-4F56-86CD-4C38EADA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0166C-9E78-42E3-9E2D-5B9C6BD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B4A5D5-3F9E-4A12-9708-F5B19CBE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9DA2D6-C1C2-47E8-B60F-81A231F3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E47355-BB61-428F-8BBD-6C399ECA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F0A97-68B3-414A-8F6A-4953C4A6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B997A-64D1-442D-9048-ECF0BF4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9D2C2-F4C6-459E-8803-2EC4AD12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D2700-A239-4C93-B528-8354A6C6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26C111-BE14-405E-A11C-C25E78F2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403BE1-E327-4E8C-A310-691FCAA1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796478-C808-4C96-AF18-BCB7C351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61953-12EC-4729-966A-5FC6DAE2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9d2445c05461f"/>
          <a:stretch xmlns:a="http://schemas.openxmlformats.org/drawingml/2006/main"/>
        </p:blipFill>
        <p:spPr>
          <a:xfrm xmlns:a="http://schemas.openxmlformats.org/drawingml/2006/main">
            <a:off x="590550" y="4572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AF928B-9D15-4083-A4C6-C449271A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04 / PRODUCT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0BD581-2E0B-409A-9F6A-4A74C368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 marketplace for traders who</a:t>
            </a:r>
          </a:p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prove first.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C5DC39-C31D-49D7-9224-57B4E370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Investors browse graduated vaults by buffer, performance,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health, and strategy instead of trusting a pitch.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B7A86C-AD38-4B84-BD82-7FA0783B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BB8F74-35E4-4139-8B89-9E1E9334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Compact vault discovery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EAB89D-1A90-44D8-9B80-93AC3D13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5F105F-5CD4-449A-8F1E-A60B0EA0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EB463-2AFF-4BF4-8E42-DA852F41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Risk and buffer visible upfront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9370E6-6F50-442A-8B72-3143776D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95071B-EEA0-4D0B-B1CB-A265E188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BC6D37-96F3-424B-8A7F-714EC05C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Portfolio and alerts built around withdrawal confidence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DA6C70-A474-4399-AE97-956AF8A6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F13FDC-C174-461C-99B2-49E6C7C1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4210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44C1FC-86F9-4CD1-93CE-0A1449FF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09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PROOF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FF9E3C-7E12-4B6F-A2C8-1D75D114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650"/>
            <a:ext cx="337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marketplace is designed as the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first product surface, not a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marketing page.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C71FA4-087A-40E3-9358-F3082895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100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5B6B87-B346-4042-BB8B-27884664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2C21FC-D45C-422B-8EE2-5CD72D4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43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7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F645F8-0BDD-40A3-B8B1-9FD626D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BUFFER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62010B-2144-4B97-B40A-BBA89782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438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F7CDBA2-293F-494D-925D-9D307D73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LIMIT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81E745-5736-4FE8-BC00-C73A6FF6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438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2E4B1A-DE65-4F48-B13B-017BB97E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EXIT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7AAFD8-9599-45F9-9700-752D5623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6BE943-75E8-42CE-B359-CCDEDAFF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380D3C-C5F4-4024-90D7-3C108054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39196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37AF1-4F7F-44C9-886E-681A7D9D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D946A-100C-4DF7-A7BE-B8575803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FC9DA-A468-4A5F-9C12-79EACF2D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F754C-A692-457E-9707-C996E174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6BCA6-FF84-4768-BD82-30D78B7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5C204-AA32-49B5-8B88-1AFAE660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D0BE6-2294-4CFF-BCB1-7B8787FF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67B58-E91F-4002-9749-E44D8CD3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2B7C7-FFF6-4923-8F43-C74491CE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85ADB-CE7B-426F-92D0-08DF9C57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DAAFA-89D1-448E-9B5F-9FCA09EF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E8B03-315C-43BF-A84E-4D5A18D0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0384B-0988-4BA9-8E44-00575282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FF71E-9101-4544-A4C9-FB6D87C3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7E860-6545-427B-B043-27AE652C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2B7F1-C40B-4120-863C-27D056B6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4469D-17E3-44B4-9245-96DB023C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84113-113D-478B-A00C-E6A90127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252B7-3DEE-4BED-A91E-36E5B3AA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4F9D2-2CC3-4660-8975-6720C396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FF1AA-87A6-4764-B785-8DFB2FAE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7BCCA-A4DD-43F1-A128-76D1815A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02280-D243-427E-ABA8-864F23F4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53BB7-8743-41F1-8D2D-94A2988F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9F1EB-CD14-47C0-8716-D4D1C378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B685CC-1F01-48A6-BAF8-50C4E333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E8B6BE-B788-41BE-AFDB-05B84A71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701ACC-0269-42CD-B3CE-AE224768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8F1C5-8080-4A0B-BFFF-FA63D837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3E272B-A6B6-417E-9E09-EA011787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70CEC-7C6A-4DD5-81E2-93387E22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5820501004aef"/>
          <a:stretch xmlns:a="http://schemas.openxmlformats.org/drawingml/2006/main"/>
        </p:blipFill>
        <p:spPr>
          <a:xfrm xmlns:a="http://schemas.openxmlformats.org/drawingml/2006/main">
            <a:off x="590550" y="4572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05A18F-3B19-4B88-B8F8-FA67D3DF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05 / MECHANIC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78C4FD-3548-4909-8E1D-9BAB72D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trader’s money is the</a:t>
            </a:r>
          </a:p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first fuse.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BC2E1F-2876-4B77-89F8-66AA3F4A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Junior capital protects senior investor capital and shrinks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trading freedom as the buffer deteriorates.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1F2CDA-BF88-42B9-BCC8-AD3245AD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01B8D8-13D7-438E-96A8-9BC22B22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Paper mode before investor access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3ECF7B-DCF1-44FF-944B-020F8A1B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C4EB4F-BB66-41F6-A709-837A8669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8F82BC-E26E-4A5A-9B47-665B3AFD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First-loss junior buffer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E51C0A-649E-4AC0-9834-6F4083F9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685275-9817-41AF-98FA-F1F5DC52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64D387-BC3F-45D7-AC6B-FA695FBC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Dynamic position limits as health falls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116EBF-4D8A-411A-8120-93210935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9708D8-6890-4DDD-A7A6-745B44EB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4210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582BFE-015F-4E55-B654-4ABE7722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09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PROOF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097C45-A5DF-4F45-83A0-F99C6B84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650"/>
            <a:ext cx="337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manager UI shows progress,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capital, status, and limits as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operating constraints.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55D0A7-C402-4B1D-9E37-0FEB7167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906B99F-2363-403C-B6E7-AF7B7BD9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PAPER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67D756-4DBF-4C10-B307-06EF7BBA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671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5EF327-9488-4F10-942D-03949CAB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25"/>
          </a:solidFill>
          <a:ln xmlns:a="http://schemas.openxmlformats.org/drawingml/2006/main" w="9525">
            <a:solidFill>
              <a:srgbClr val="00FFB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7A8FC5-FAC1-45E0-802A-7EA3F7A4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JUNIOR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73472B-5E1D-415E-A286-02E3FAB0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671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36ECC9-0484-4DEA-A8CA-E708F6B8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B42C9F-0CA2-42E3-B814-651D411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909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SENIOR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7ABF04-5422-4C0A-9410-4821F1E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71CCA8-C725-4E9E-BBC8-BFD50B67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EF680D-380E-4EF6-82EA-5D14339D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73522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280BE1-B2CC-4891-AB72-6A5969E2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A067F-C336-4D48-99BE-6898CFF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5AA52-7D4E-4EF1-B06E-05E146FE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A0519-D69E-41F6-ABE3-B518F670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88D4C-AD56-4509-8588-E2FFA674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4486C-11EA-422E-BC7A-E057EA1E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B3EC5-8DCD-4724-8A55-58DA40A8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D5A74-AF7E-4639-BDF1-C91A59F4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048481-BF05-4CEF-9B0B-F3B35F0D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E6F0C-937D-4EA2-8009-9A42BAA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80EF9-3AD5-42D7-A4A8-ED8D9951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BE7F5-2ABC-4112-B35A-E2E042D7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1AD9A-A0DA-46EB-BE85-3848529D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334E7-40D5-40B9-8B44-A71FDFA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18239-5E50-44C0-BC86-B8741F0B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69B31-47DF-41EA-82FE-C11A6B6E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B8462-D3A5-42C0-BFC4-5AA5824C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9F652-9D65-45EF-971A-6266A23F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E9139-DA31-4A16-BF1A-ACCD31A6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00FAB-C912-4733-B5BB-57CA8E36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00B34-1574-4DF3-BAC5-46297F85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3D897-91DA-4BE5-879B-F502D84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C2A848-14EF-4296-AF0F-5666267B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894B8-E38F-4C93-BDE8-D7F43655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AD055-95D7-4F20-83B5-A312D99C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BCB29-8B35-467C-8FEC-3EA6441A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8FBA4-1930-4B24-A5FE-88C18396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5B8D5-45AE-4F96-B723-F8EEF93F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6005D-BBCB-4F77-899E-67A35876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A9988D-A4F0-43CF-BC10-33CD794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1EE1E9-B42A-4A29-8734-9179C636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14a05da8c4176"/>
          <a:stretch xmlns:a="http://schemas.openxmlformats.org/drawingml/2006/main"/>
        </p:blipFill>
        <p:spPr>
          <a:xfrm xmlns:a="http://schemas.openxmlformats.org/drawingml/2006/main">
            <a:off x="590550" y="4572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B7524B-54DF-4278-BB59-8F502575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06 / DEMO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82F61-7375-4BF6-A7CD-2F514D70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One flow, two roles, strict</a:t>
            </a:r>
          </a:p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boundaries.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EA9D56-CB35-4843-99A5-45E33DD3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Arcadia separates investor discovery from trader operations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so each role sees the right controls.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E4BA8F-2FCE-4C25-A4DD-85EBA5E3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6F45F8-97A5-447B-B815-3B702443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Landing to marketplace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0CB5A0-07C0-4564-BCD3-C23FCA83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5028F1-D9CC-4D78-BDB3-EEF7C491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8F0883-6C04-4E38-A649-F02B7E4C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Vault detail to deposit/withdrawal clarity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9B56D8-90D7-4075-B02D-29E5FF3D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031B72-8B3D-4FEA-8F72-82485910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468139-76E6-444C-893E-A33B3FBF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Manager console to trade limits and operations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4CD403-1878-4548-A2AC-CEFD670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497889-8C42-43E0-A4ED-0F467AE2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4210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EC4B0D-07D6-460B-BB47-C4704F88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09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PROOF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BE1CCF-5649-4B7C-9369-C8BA9A14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650"/>
            <a:ext cx="337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Investor views do not expose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execution controls; trader views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focus on vault management.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17C114-709B-4C11-B6F1-2A9D1FE2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100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787FF8-3355-4A9B-B3A2-7B27A268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866FC6-90D2-41FD-9CB3-EFFD4C55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43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7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3FC484-36EE-4ADA-882A-0A423307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BUFFER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827A47-8882-498D-A5BB-9B6D1135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438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0811F8-25C9-40EB-966B-C5F84D7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LIMIT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00536D-C330-4C20-840D-944DC1DA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438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782718-44F1-4D78-8005-C577AF3A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EXIT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DB458E-523A-4721-8B61-FA8F5329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50C490-9A8F-4EE8-B802-31FBB204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D5D0EA-9E7B-45F1-A52C-CAF6B97F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3613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EBBC1D-836E-494D-BAA5-E295AF4D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665F5-5747-4D5F-AD27-0F5202A1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864EE-338F-405C-958F-B259CA6D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BC239-F3C2-49DE-89D6-2433537B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16842-F25C-4D4D-B2BC-96DDDEBE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5971F-183E-413B-A9C3-25D88513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7004F-6047-41F9-85C4-DB524483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6B424-0C56-40F5-A105-E39D1513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55CBC-BC0C-4595-97E3-F4288FE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75CA6-2A83-471C-A09D-A0231F5D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746C3-2FF3-4E18-B759-6F3E17EE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F50A2-B174-4884-A51A-849FB7EA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912A6-47F5-4F39-8AA4-2230952F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57954-C650-4504-9456-3F82D742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20648-4B7F-4604-8EE5-BCCC02B7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2C716-10CB-4C36-80A3-61C08D83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F15A8-3982-4499-9D7C-F8DE6490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7558B-2213-4180-8915-D0A1EC55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0EECFC-19AE-4E62-8A66-A3FC373D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17596-A05E-4E81-B074-B197DB5E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15BB2-DC27-4E9D-9A3D-FAEF4AB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0BF707-7D41-4FFE-AC5D-449C08E4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92820-DB48-44D3-9CB7-0CA9B80E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8C9E6-4DF6-4E3F-994B-99233EF8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34EBE-EBFD-4163-B235-40CE4109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D9BFEB-F0BC-4630-BC82-EFA6CDE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5E2A75-C6DA-4815-937A-3B7F1B49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3BB0D-68BF-4252-A967-36477DE3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4A8C3-58B9-47F3-BE2F-408B64CF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3D44BB-EB35-464D-84E9-9FFDA4FC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9118E-BFA0-49D7-B843-9A2E9AB7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79d70810d4320"/>
          <a:stretch xmlns:a="http://schemas.openxmlformats.org/drawingml/2006/main"/>
        </p:blipFill>
        <p:spPr>
          <a:xfrm xmlns:a="http://schemas.openxmlformats.org/drawingml/2006/main">
            <a:off x="590550" y="4572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CA183B-DB6C-49FC-A775-F73D2D7D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07 / SAFETY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20AF05-3918-43B4-80EA-3E2C4F0C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Withdrawal safety is part of</a:t>
            </a:r>
          </a:p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accounting, not support.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4178ED-FAC6-4399-B251-9CAE885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The v1 model uses USDC base liquidity and WSOL exposure so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withdrawals can be valued and protected.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64ECAA-167B-4E3C-9E96-99F50763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1DE360-3156-4E08-BDBA-12FF854A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Pyth-backed SOL/USDC NAV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668D03-C727-45F1-B156-9DD66A66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C3DB44-7748-4565-9082-C717FA8C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14525B-C826-49BE-B4FC-0397FA3C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10% liquid USDC reserve guard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78B53D-A7B3-45F6-A4EC-09F6EE4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565C71-6ADC-4483-8D2A-9FCEC7A5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1F3A48-D567-43DC-AB88-24ACB4B8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Jupiter-assisted WSOL unwind design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C4BD5D-C3B1-43A2-9FE6-6A4EDBF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1E797E-3DD1-480E-8799-C82A4149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4210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21369C-3094-4E70-A940-ECCD8EC1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09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PROOF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E385B7-1B36-4C02-9529-B9961891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650"/>
            <a:ext cx="337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Shares were removed from the user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model; investor data now tracks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principal and claim.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8F0E0C-5161-452F-91C9-5F72ADCF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033FEB1-31D3-4CCB-9697-C235C838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909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USDC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451FD5-3257-4448-BEF7-2B630206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671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7CA23D-FF64-4942-8EB2-93AC793B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25"/>
          </a:solidFill>
          <a:ln xmlns:a="http://schemas.openxmlformats.org/drawingml/2006/main" w="9525">
            <a:solidFill>
              <a:srgbClr val="00FFB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1F027A-9FE4-4C03-97AB-5932422C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909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PYTH NAV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F47FD5-776D-45A9-BD47-9899F5E3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6715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BBDBEF-E5A8-4942-B132-C935A63F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876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D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ED517E-F5DD-42D4-985D-5ED14BB2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90950"/>
            <a:ext cx="876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5F7FA"/>
                </a:solidFill>
                <a:latin typeface="Aptos Mono"/>
                <a:ea typeface="Aptos Mono"/>
                <a:cs typeface="Aptos Mono"/>
              </a:rPr>
              <a:t>UNWIND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E7051B-4C3D-4CC9-897A-B854D6AB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893BCF5-62B0-431E-A1A9-70E475CF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28BF37-832C-4B4E-B1F7-5AA2CECD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46248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EA5589-26D3-44C7-905C-9597275F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9859D-EEC0-4671-951A-38109ECB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8B387-316B-44E8-911C-23C504E2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A9D46-47B6-4999-9F79-2569E3AF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8E4B1-D6D6-4752-94C4-FC54778A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2AA55-7163-405E-8295-952B2AE6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A3D08-4DEA-40AF-A539-A41516E0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DC0F6-E23F-4268-A32A-E020C2C9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BC9AE-6CD1-4941-840F-391C7151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BA3A9-0ACA-4518-ABCA-0CFF5E4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22E4E-6781-4DDD-8D52-0EF693D2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D70CB-2C8B-46C9-A07C-B608DA6C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6CDB7-2DA4-4CD9-967A-536D7B11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DE3D1-D198-4825-BF15-C3A1A5F4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6FADD-F144-4BFD-BF2E-64CDC9F7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B53C4-6C5B-48ED-96DF-F912743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DD4A0-BA58-47EE-997E-03580354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D2DDE-4CC1-4131-A046-5E8747FE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842A1-0B02-40D9-89F7-B3E368F3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58BC0E-9709-47CA-9B5C-81C7DCD2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C6327-28E3-4D0B-A8A2-0314C57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81A0E-9E13-4AAC-A405-CE497A53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CC8AE8-8BAF-4594-8D87-D75B702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756333-9CB4-47AB-A011-54408445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99557-E817-4AD0-937E-DD548863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9ABC64-3D4F-4E5F-84BA-713C4444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4F9B24-D0E7-4563-80C0-974BBC85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C1942-43E1-4431-B804-0ABD2DA6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F44A3-6552-4C4A-9793-4CA5DC12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44C2AE-851C-4FEC-9A77-617AC466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29757-8CFC-4564-B4F8-EFBB13EF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c834ded2941ba"/>
          <a:stretch xmlns:a="http://schemas.openxmlformats.org/drawingml/2006/main"/>
        </p:blipFill>
        <p:spPr>
          <a:xfrm xmlns:a="http://schemas.openxmlformats.org/drawingml/2006/main">
            <a:off x="590550" y="4572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26EB8A-B039-44EC-8B1A-D32DA78D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08 / SOLANA EDGE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E45DFE-5CD6-49F7-940C-81EE504A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Arcadia is stronger because</a:t>
            </a:r>
          </a:p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it is on-chain.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531CA8-F5EB-4BF1-96C8-9C5CB943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The product relies on public state, non-custodial custody,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composable vault records, and deterministic execution paths.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91FA66-3897-454C-B9F2-4C2F4189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F7D59E-53FC-4E28-A622-2226FC03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Managers cannot edit their past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75B290-3D81-4313-B79F-599B8FA3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335F7A-1AA5-4489-A8D1-D3678667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349828-16F0-449F-B2EF-677E2F20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Investors can verify state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45CEF8-1B7C-4349-9C6E-8404D86B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E02006-9A33-424B-8B55-1D714987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E67EF2-ADE5-4E20-8C55-FB4F1E5E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Indexers can materialize public performance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CBDC6F-A5F8-4CD9-BA5B-AF1A417B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EA9F81-D9A8-4EDD-9D67-45162FBF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4210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813A5F-AAC0-4CB2-A35E-6D910ABA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09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PROOF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D5BAC4-15EA-4C6F-B3F4-F3432D33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650"/>
            <a:ext cx="337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program, generated clients,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frontend, and indexer are designed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as one Solana-native loop.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3FC8F5D-9FD5-401B-A900-E9DCDE38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100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26EAFF-00ED-46BB-8601-9373E04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5374B5-473A-4DB2-9EEA-5A11DB50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43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7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EB139C-AE72-471B-839C-64A04255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BUFFER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7E8FBD-1EB9-49F0-BEDD-6C77B146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438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D81A2F-6879-47B2-8C1D-ACDBBD0D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LIMIT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8434E6-D890-4AAB-8917-39C3653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438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755945-DC59-4F07-A6D6-45FF8F07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EXIT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DB05AD-DAA9-4048-A25A-F0F87B83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CEE113-A36C-4C6E-93A2-5DC1BCEE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9B9128-DB9C-4645-ACE5-7BD06826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65820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E26D6-9234-476B-B897-5381C665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8D27F-136F-407A-954E-CC4B9E9C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A2BD4-0C68-4C40-87F4-AEC5BCA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48EC2-A7E9-4C41-B0C8-B7B2117D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702EE-CA2D-4745-8F75-E0AA9A40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08517-AFD1-4DCB-987D-5DAC71C8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92AF5-4D0C-4530-9D2C-D1E394BC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5E3DD-900C-4F7A-8CC3-EB9EDBE3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1F56F-AD4C-48F3-A4E9-1D0D746A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032B3-D19E-47FA-BDCC-6F78E459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96FD5-0DD4-490E-AA41-CB2870CD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790CF-90C8-40B6-AA41-7007EF17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1A53D-EC5F-4964-94CE-50AC4801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6A2D9-042F-448B-ADD4-D01818CB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5E71B-4BA6-446B-9B56-F352B538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C3FA6D-4661-4CF1-9AE1-BBE41501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91F72-C16C-4C8E-B646-C1377261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65D49-6D58-44C4-BDF2-AF2EC1A3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479E4-20FB-4716-9E7F-F1325C30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6AC0B8-1449-4F5B-9B10-EFE61F47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49CD7-6E56-4C0F-9736-C4848E85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7849E-25EE-4116-AF06-076FED87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FA25B-9DA4-4865-9C94-1F18568E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5B38F2-8A8F-42F3-B0A8-F7294D1C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940DC-7C2B-496D-B799-81BBEA1F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91F7ED-8A1C-4BD1-8593-F62BE8F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D72322-3B30-452A-8C78-9127D34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1BB9F-82E2-4513-B97F-013E44C9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51F073-7CCD-4C48-BFCE-30433399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DD9D7F-BA4E-4073-84A1-93F94D14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F7A2A9-34FE-43CF-B06A-74B790A1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a4ec3c3a6441a"/>
          <a:stretch xmlns:a="http://schemas.openxmlformats.org/drawingml/2006/main"/>
        </p:blipFill>
        <p:spPr>
          <a:xfrm xmlns:a="http://schemas.openxmlformats.org/drawingml/2006/main">
            <a:off x="590550" y="4572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EE16F6-1C47-41CC-A6F9-2775EDA6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09 / PROGRESS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958A5E-1E4A-4C93-A6E7-06774F96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MVP is already a real</a:t>
            </a:r>
          </a:p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product surface.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2FA557-92FB-465B-BE8D-FA07B101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Arcadia has a polished frontend, role-gated flows, program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design, indexer scaffold, and tests around core accounting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behavior.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9534BB-B9E4-4675-967C-1507E33E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7A4ABB-ABA4-437A-82FF-A6E3906B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Arcadia UI and SVG brand system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6885DE-A34E-468F-B055-EFF734F6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75C2ED-0F84-4AEB-ADE0-9AC1A204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0693AC-146F-489C-876C-65D4CF73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USDC/WSOL accounting plan implemented in program direction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213DD8-0480-4176-8AD8-0CE08529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812FBE-BD27-4EF1-AFFF-59657B3E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AA2FD5-3E24-4B66-8222-0D7F459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Frontend tests/build/lint passing before media work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E30106-D0C5-4CA9-809E-42463011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1321DE-B06B-489D-AB02-49CAA8CB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4210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D68257-1D37-4A00-87F2-C7973981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09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PROOF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8A779D-5A48-4E4E-85DC-A02A47F3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650"/>
            <a:ext cx="337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demo package captures the app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directly from localhost.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DB5BA1-FD29-4C18-88E8-9B2E2C3B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100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5DB771-FA15-4D7B-B518-47D49303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B3A159-FEA4-4A4B-80E1-29B32623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43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7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E216CD-8EB9-43F7-893E-02527843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BUFFER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158F0C-58A7-47CB-94A3-EA4B1D16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438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ECB54B-C757-4931-A4DF-13800E9A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LIMIT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29DEFD-A594-4C6E-893F-C7A8BA75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438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00DBF4E-3984-4FB1-9CDA-709D81B0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EXIT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8F054F-B4F0-4238-8F06-2F84AD4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E57DEF-D004-4A8C-B886-FE66048B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39C427A-07D4-4D51-8986-99AC326A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61986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E5721E-7791-4A23-9D8D-1CEB701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8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8C732-19CE-483D-8B71-A1E7EAA9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7CB2D-BF98-4CCF-BC2E-FCE036F3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F1275-5047-4D5A-BBC5-2A9E1491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74F4D-9F63-49F9-8B2D-481E75F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448C6-D993-4365-8D23-1F83168C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6D36F-C37A-460F-92DC-CCAE569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B0E7D-EB0C-440F-ADF1-11407E55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B8449-340B-4A4E-8B27-851F5C55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6CA32-C290-4E5E-8981-724EABC8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3D251-2E91-4F43-9D50-63D5223D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F0E5A-E5DB-43F4-881B-6B9204EB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7F416-57F1-4D4F-8567-B35E19EF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BFE64-8DE7-4EDD-B9FB-ECD2FC6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BC414-A04E-41D2-ACC2-93D62F09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AB105-7E5D-4B92-B950-1DF56F35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69AFF-0BC3-4CE4-837D-B28E22C6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9E5EB-1B61-40A4-95C6-60406AAF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5F6B4-A110-40AA-9992-B5CF29F4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0CDCD-9BF6-4D26-91E1-49916A77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60033-4863-44E2-BC5A-D3019E85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274B8-536C-43DF-B44A-AE77C830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BBC9D-E831-4A59-99A9-573ED22C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E62F8-0B06-45BC-AC46-FDDD4D50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1B2F2-1515-417B-BA6F-D1927E0A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57EF13-4F0E-45E1-9729-468D9A44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EE0E2-4656-41C4-9B60-02BD22F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76ED9-EC05-4C28-84A6-C54D1045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DB6967-68A4-4B4D-9536-22DA54F8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11759-01EA-4DA0-B46C-D82813D9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762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176FBA-4ABA-4C86-9B07-83F2436E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762500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4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69debbde64ecb"/>
          <a:stretch xmlns:a="http://schemas.openxmlformats.org/drawingml/2006/main"/>
        </p:blipFill>
        <p:spPr>
          <a:xfrm xmlns:a="http://schemas.openxmlformats.org/drawingml/2006/main">
            <a:off x="590550" y="4572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F9B9A9-E04B-42F6-BBA3-C2FECB87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245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10 / ASK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3052AD-6C97-4ECE-B001-73F3E33F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628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Help Arcadia recruit the</a:t>
            </a:r>
          </a:p>
          <a:p xmlns:a="http://schemas.openxmlformats.org/drawingml/2006/main">
            <a:pPr algn="l">
              <a:def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first serious managers.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F9006C-152F-4C4B-BB33-348BC16A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561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Colosseum support helps move Arcadia from MVP to pilot</a:t>
            </a:r>
          </a:p>
          <a:p xmlns:a="http://schemas.openxmlformats.org/drawingml/2006/main">
            <a:pPr algn="l">
              <a:defRPr sz="1500" b="0">
                <a:solidFill>
                  <a:srgbClr val="B0B0B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0B0B0"/>
                </a:solidFill>
                <a:latin typeface="Aptos"/>
                <a:ea typeface="Aptos"/>
                <a:cs typeface="Aptos"/>
              </a:rPr>
              <a:t>vaults with disciplined traders and real feedback.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F43598-A491-4EE0-8B3E-5273D75B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E4E804-1174-431E-9A50-E57D8C8D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Select Arcadia for the Solana DeFi track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3DA8E-B960-45EB-99C0-042311D6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A21E35-B7A8-4EB4-A472-B02B59E1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D3E0D6-7CE8-400F-8DC5-DE6DBBE0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1005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Introduce pilot traders and protocol reviewers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0B687F-C3F5-4AEC-866A-CA230256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20A1B9-743F-441F-8118-8E3C5BAB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EC1288-D80A-45E0-93B7-F6494266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483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7FA"/>
                </a:solidFill>
                <a:latin typeface="Aptos"/>
                <a:ea typeface="Aptos"/>
                <a:cs typeface="Aptos"/>
              </a:rPr>
              <a:t>Pressure-test withdrawal safety before mainnet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89CD25-2432-4185-8D3A-4E38C311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5714C2-F963-40B5-9492-E8A374BB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123950"/>
            <a:ext cx="4210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30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18010F-C5B2-422F-929C-630F0E70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40970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00FFB2"/>
                </a:solidFill>
                <a:latin typeface="Aptos Mono"/>
                <a:ea typeface="Aptos Mono"/>
                <a:cs typeface="Aptos Mono"/>
              </a:rPr>
              <a:t>PROOF OBJECT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B53522-B6F6-42C5-B497-BC0A15DC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650"/>
            <a:ext cx="33718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The next milestone is not more hype.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It is guarded live capital with</a:t>
            </a:r>
          </a:p>
          <a:p xmlns:a="http://schemas.openxmlformats.org/drawingml/2006/main">
            <a:pPr algn="l">
              <a:def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F7FA"/>
                </a:solidFill>
                <a:latin typeface="Aptos Display"/>
                <a:ea typeface="Aptos Display"/>
                <a:cs typeface="Aptos Display"/>
              </a:rPr>
              <a:t>visible proof.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173928-2AB2-4CED-B768-542A913F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10050"/>
            <a:ext cx="438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B105B0-634C-40A4-85B9-3FEFC982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VAULT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D294E3-005E-45EC-B0D0-DB56033F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43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78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59D6B6-E1B2-4400-BC66-75F0787E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BUFFER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DE9AEA-0BD0-4B72-A12D-C9FEE563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90950"/>
            <a:ext cx="438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C487D1-7A56-4567-A2A8-8BAA35ED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LIMIT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5CB4B6-3592-4558-A3EA-61E79FC0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438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FAE13E-D8D5-4947-9C74-B88232A8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48200"/>
            <a:ext cx="609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defRPr>
            </a:pPr>
            <a:r>
              <a:rPr sz="600" b="1">
                <a:solidFill>
                  <a:srgbClr val="B0B0B0"/>
                </a:solidFill>
                <a:latin typeface="Aptos Mono"/>
                <a:ea typeface="Aptos Mono"/>
                <a:cs typeface="Aptos Mono"/>
              </a:rPr>
              <a:t>EXIT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6CB52D-7143-4602-B7AC-04E1C239A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4585F3-2144-45F9-9BAF-2A0B9B2C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ARCADIA / COLOSSEUM PITCH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3840CA-41AB-4A9B-B815-0CED5F6E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defRPr>
            </a:pPr>
            <a:r>
              <a:rPr sz="675" b="1">
                <a:solidFill>
                  <a:srgbClr val="7C7C84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96426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2026-05-02T02:00:00.1270000Z</dcterms:created>
  <dcterms:modified xsi:type="dcterms:W3CDTF">2026-05-02T02:00:00.1270000Z</dcterms:modified>
</coreProperties>
</file>